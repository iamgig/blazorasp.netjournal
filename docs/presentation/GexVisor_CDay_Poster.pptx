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43891200" cy="32918400"/>
  <p:notesSz cx="20104100" cy="13404850"/>
  <p:defaultTextStyle>
    <a:defPPr>
      <a:defRPr lang="en-US"/>
    </a:defPPr>
    <a:lvl1pPr marL="0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1pPr>
    <a:lvl2pPr marL="1047994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2pPr>
    <a:lvl3pPr marL="2095988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3pPr>
    <a:lvl4pPr marL="3143982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4pPr>
    <a:lvl5pPr marL="4191975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5pPr>
    <a:lvl6pPr marL="5239969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6pPr>
    <a:lvl7pPr marL="6287963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7pPr>
    <a:lvl8pPr marL="7335957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8pPr>
    <a:lvl9pPr marL="8383951" algn="l" defTabSz="2095988" rtl="0" eaLnBrk="1" latinLnBrk="0" hangingPunct="1">
      <a:defRPr sz="4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072">
          <p15:clr>
            <a:srgbClr val="A4A3A4"/>
          </p15:clr>
        </p15:guide>
        <p15:guide id="2" pos="471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3"/>
  </p:normalViewPr>
  <p:slideViewPr>
    <p:cSldViewPr>
      <p:cViewPr varScale="1">
        <p:scale>
          <a:sx n="22" d="100"/>
          <a:sy n="22" d="100"/>
        </p:scale>
        <p:origin x="1692" y="72"/>
      </p:cViewPr>
      <p:guideLst>
        <p:guide orient="horz" pos="7072"/>
        <p:guide pos="47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91839" y="10204703"/>
            <a:ext cx="37307522" cy="10310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583680" y="18434304"/>
            <a:ext cx="3072384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4798" y="123317"/>
            <a:ext cx="32361600" cy="2369880"/>
          </a:xfrm>
        </p:spPr>
        <p:txBody>
          <a:bodyPr lIns="0" tIns="0" rIns="0" bIns="0"/>
          <a:lstStyle>
            <a:lvl1pPr>
              <a:defRPr sz="1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4798" y="123317"/>
            <a:ext cx="32361600" cy="2369880"/>
          </a:xfrm>
        </p:spPr>
        <p:txBody>
          <a:bodyPr lIns="0" tIns="0" rIns="0" bIns="0"/>
          <a:lstStyle>
            <a:lvl1pPr>
              <a:defRPr sz="1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194560" y="7571232"/>
            <a:ext cx="190926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2603967" y="7571232"/>
            <a:ext cx="190926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4798" y="123317"/>
            <a:ext cx="32361600" cy="2369880"/>
          </a:xfrm>
        </p:spPr>
        <p:txBody>
          <a:bodyPr lIns="0" tIns="0" rIns="0" bIns="0"/>
          <a:lstStyle>
            <a:lvl1pPr>
              <a:defRPr sz="15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bk object 17"/>
          <p:cNvSpPr/>
          <p:nvPr/>
        </p:nvSpPr>
        <p:spPr>
          <a:xfrm>
            <a:off x="4661407" y="2196498"/>
            <a:ext cx="20731479" cy="235992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k object 18"/>
          <p:cNvSpPr/>
          <p:nvPr/>
        </p:nvSpPr>
        <p:spPr>
          <a:xfrm>
            <a:off x="23132288" y="2196498"/>
            <a:ext cx="2831591" cy="235992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k object 19"/>
          <p:cNvSpPr/>
          <p:nvPr/>
        </p:nvSpPr>
        <p:spPr>
          <a:xfrm>
            <a:off x="24121871" y="2196498"/>
            <a:ext cx="15102838" cy="235992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64798" y="123317"/>
            <a:ext cx="32361600" cy="10310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7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194560" y="7571232"/>
            <a:ext cx="39502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923008" y="30614113"/>
            <a:ext cx="14045184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194561" y="30614113"/>
            <a:ext cx="10094976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1601667" y="30614113"/>
            <a:ext cx="10094976" cy="6309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11" name="bk object 16"/>
          <p:cNvSpPr/>
          <p:nvPr userDrawn="1"/>
        </p:nvSpPr>
        <p:spPr>
          <a:xfrm>
            <a:off x="0" y="1"/>
            <a:ext cx="43891200" cy="2864571"/>
          </a:xfrm>
          <a:custGeom>
            <a:avLst/>
            <a:gdLst/>
            <a:ahLst/>
            <a:cxnLst/>
            <a:rect l="l" t="t" r="r" b="b"/>
            <a:pathLst>
              <a:path w="20104100" h="1166495">
                <a:moveTo>
                  <a:pt x="0" y="1166224"/>
                </a:moveTo>
                <a:lnTo>
                  <a:pt x="20104099" y="1166224"/>
                </a:lnTo>
                <a:lnTo>
                  <a:pt x="20104099" y="0"/>
                </a:lnTo>
                <a:lnTo>
                  <a:pt x="0" y="0"/>
                </a:lnTo>
                <a:lnTo>
                  <a:pt x="0" y="1166224"/>
                </a:lnTo>
                <a:close/>
              </a:path>
            </a:pathLst>
          </a:custGeom>
          <a:solidFill>
            <a:srgbClr val="FFC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1047994">
        <a:defRPr>
          <a:latin typeface="+mn-lt"/>
          <a:ea typeface="+mn-ea"/>
          <a:cs typeface="+mn-cs"/>
        </a:defRPr>
      </a:lvl2pPr>
      <a:lvl3pPr marL="2095988">
        <a:defRPr>
          <a:latin typeface="+mn-lt"/>
          <a:ea typeface="+mn-ea"/>
          <a:cs typeface="+mn-cs"/>
        </a:defRPr>
      </a:lvl3pPr>
      <a:lvl4pPr marL="3143982">
        <a:defRPr>
          <a:latin typeface="+mn-lt"/>
          <a:ea typeface="+mn-ea"/>
          <a:cs typeface="+mn-cs"/>
        </a:defRPr>
      </a:lvl4pPr>
      <a:lvl5pPr marL="4191975">
        <a:defRPr>
          <a:latin typeface="+mn-lt"/>
          <a:ea typeface="+mn-ea"/>
          <a:cs typeface="+mn-cs"/>
        </a:defRPr>
      </a:lvl5pPr>
      <a:lvl6pPr marL="5239969">
        <a:defRPr>
          <a:latin typeface="+mn-lt"/>
          <a:ea typeface="+mn-ea"/>
          <a:cs typeface="+mn-cs"/>
        </a:defRPr>
      </a:lvl6pPr>
      <a:lvl7pPr marL="6287963">
        <a:defRPr>
          <a:latin typeface="+mn-lt"/>
          <a:ea typeface="+mn-ea"/>
          <a:cs typeface="+mn-cs"/>
        </a:defRPr>
      </a:lvl7pPr>
      <a:lvl8pPr marL="7335957">
        <a:defRPr>
          <a:latin typeface="+mn-lt"/>
          <a:ea typeface="+mn-ea"/>
          <a:cs typeface="+mn-cs"/>
        </a:defRPr>
      </a:lvl8pPr>
      <a:lvl9pPr marL="8383951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1047994">
        <a:defRPr>
          <a:latin typeface="+mn-lt"/>
          <a:ea typeface="+mn-ea"/>
          <a:cs typeface="+mn-cs"/>
        </a:defRPr>
      </a:lvl2pPr>
      <a:lvl3pPr marL="2095988">
        <a:defRPr>
          <a:latin typeface="+mn-lt"/>
          <a:ea typeface="+mn-ea"/>
          <a:cs typeface="+mn-cs"/>
        </a:defRPr>
      </a:lvl3pPr>
      <a:lvl4pPr marL="3143982">
        <a:defRPr>
          <a:latin typeface="+mn-lt"/>
          <a:ea typeface="+mn-ea"/>
          <a:cs typeface="+mn-cs"/>
        </a:defRPr>
      </a:lvl4pPr>
      <a:lvl5pPr marL="4191975">
        <a:defRPr>
          <a:latin typeface="+mn-lt"/>
          <a:ea typeface="+mn-ea"/>
          <a:cs typeface="+mn-cs"/>
        </a:defRPr>
      </a:lvl5pPr>
      <a:lvl6pPr marL="5239969">
        <a:defRPr>
          <a:latin typeface="+mn-lt"/>
          <a:ea typeface="+mn-ea"/>
          <a:cs typeface="+mn-cs"/>
        </a:defRPr>
      </a:lvl6pPr>
      <a:lvl7pPr marL="6287963">
        <a:defRPr>
          <a:latin typeface="+mn-lt"/>
          <a:ea typeface="+mn-ea"/>
          <a:cs typeface="+mn-cs"/>
        </a:defRPr>
      </a:lvl7pPr>
      <a:lvl8pPr marL="7335957">
        <a:defRPr>
          <a:latin typeface="+mn-lt"/>
          <a:ea typeface="+mn-ea"/>
          <a:cs typeface="+mn-cs"/>
        </a:defRPr>
      </a:lvl8pPr>
      <a:lvl9pPr marL="838395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www.makesigns.com/tutorials/images-graphs-colors.aspx#icolor" TargetMode="External"/><Relationship Id="rId3" Type="http://schemas.openxmlformats.org/officeDocument/2006/relationships/hyperlink" Target="http://colinpurrington.com/tips/poster-design" TargetMode="External"/><Relationship Id="rId4" Type="http://schemas.openxmlformats.org/officeDocument/2006/relationships/hyperlink" Target="http://guides.nyu.edu/c.php?g=276826&amp;p=1846155" TargetMode="External"/><Relationship Id="rId5" Type="http://schemas.openxmlformats.org/officeDocument/2006/relationships/hyperlink" Target="http://www.makesigns.com/tutorials/scientific-poster-parts.aspx" TargetMode="External"/><Relationship Id="rId6" Type="http://schemas.openxmlformats.org/officeDocument/2006/relationships/image" Target="../media/image4.png"/><Relationship Id="rId7" Type="http://schemas.openxmlformats.org/officeDocument/2006/relationships/image" Target="../media/image5.jpeg"/><Relationship Id="rId8" Type="http://schemas.openxmlformats.org/officeDocument/2006/relationships/hyperlink" Target="http://www.ils.uec.ac.jp/~dima/PAPERS" TargetMode="Externa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3689" y="554161"/>
            <a:ext cx="35057909" cy="1692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0566"/>
            <a:r>
              <a:rPr sz="11000" b="1">
                <a:solidFill>
                  <a:srgbClr val="FFFFFF"/>
                </a:solidFill>
                <a:latin typeface="Arial"/>
              </a:rPr>
              <a:t>GexVisor: A Cross-Platform Framework for Interactive Gamma Exposure Analysis</a:t>
            </a:r>
            <a:endParaRPr sz="11000" b="1" spc="-34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0" y="30175200"/>
            <a:ext cx="43891200" cy="2738696"/>
          </a:xfrm>
          <a:custGeom>
            <a:avLst/>
            <a:gdLst/>
            <a:ahLst/>
            <a:cxnLst/>
            <a:rect l="l" t="t" r="r" b="b"/>
            <a:pathLst>
              <a:path w="20104100" h="1588134">
                <a:moveTo>
                  <a:pt x="20104099" y="0"/>
                </a:moveTo>
                <a:lnTo>
                  <a:pt x="0" y="0"/>
                </a:lnTo>
                <a:lnTo>
                  <a:pt x="0" y="1587847"/>
                </a:lnTo>
                <a:lnTo>
                  <a:pt x="20104099" y="1587847"/>
                </a:lnTo>
                <a:lnTo>
                  <a:pt x="2010409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9586601" y="30651328"/>
            <a:ext cx="32941687" cy="184665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r>
              <a:rPr sz="6000" b="1">
                <a:solidFill>
                  <a:srgbClr val="FFC000"/>
                </a:solidFill>
                <a:latin typeface="Arial"/>
              </a:rPr>
              <a:t>Christopher Regan</a:t>
            </a:r>
          </a:p>
          <a:p>
            <a:r>
              <a:rPr sz="6000" b="1">
                <a:solidFill>
                  <a:srgbClr val="FFC000"/>
                </a:solidFill>
                <a:latin typeface="Arial"/>
              </a:rPr>
              <a:t>Advisor: Dr. Ying Xie</a:t>
            </a:r>
          </a:p>
          <a:p>
            <a:r>
              <a:rPr sz="4400" b="0">
                <a:solidFill>
                  <a:srgbClr val="FFFFFF"/>
                </a:solidFill>
                <a:latin typeface="Arial"/>
              </a:rPr>
              <a:t>College of Computing and Software Engineering</a:t>
            </a:r>
          </a:p>
        </p:txBody>
      </p:sp>
      <p:sp>
        <p:nvSpPr>
          <p:cNvPr id="48" name="Text Box 19"/>
          <p:cNvSpPr txBox="1">
            <a:spLocks noChangeArrowheads="1"/>
          </p:cNvSpPr>
          <p:nvPr/>
        </p:nvSpPr>
        <p:spPr bwMode="auto">
          <a:xfrm>
            <a:off x="609600" y="445314"/>
            <a:ext cx="5867399" cy="182880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120015" tIns="60008" rIns="120015" bIns="60008"/>
          <a:lstStyle>
            <a:lvl1pPr defTabSz="3343275">
              <a:defRPr>
                <a:solidFill>
                  <a:schemeClr val="tx1"/>
                </a:solidFill>
                <a:latin typeface="Arial" charset="0"/>
              </a:defRPr>
            </a:lvl1pPr>
            <a:lvl2pPr defTabSz="3343275">
              <a:defRPr>
                <a:solidFill>
                  <a:schemeClr val="tx1"/>
                </a:solidFill>
                <a:latin typeface="Arial" charset="0"/>
              </a:defRPr>
            </a:lvl2pPr>
            <a:lvl3pPr defTabSz="3343275">
              <a:defRPr>
                <a:solidFill>
                  <a:schemeClr val="tx1"/>
                </a:solidFill>
                <a:latin typeface="Arial" charset="0"/>
              </a:defRPr>
            </a:lvl3pPr>
            <a:lvl4pPr defTabSz="3343275">
              <a:defRPr>
                <a:solidFill>
                  <a:schemeClr val="tx1"/>
                </a:solidFill>
                <a:latin typeface="Arial" charset="0"/>
              </a:defRPr>
            </a:lvl4pPr>
            <a:lvl5pPr defTabSz="3343275">
              <a:defRPr>
                <a:solidFill>
                  <a:schemeClr val="tx1"/>
                </a:solidFill>
                <a:latin typeface="Arial" charset="0"/>
              </a:defRPr>
            </a:lvl5pPr>
            <a:lvl6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defTabSz="334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/>
            <a:r>
              <a:rPr sz="12000" b="1">
                <a:solidFill>
                  <a:srgbClr val="FFFFFF"/>
                </a:solidFill>
              </a:rPr>
              <a:t>CS-PhD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6DA78E1-51F4-DE41-A71D-B28FC6E2573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21000" y="24073292"/>
            <a:ext cx="3905250" cy="390525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97E985-5ABA-1944-883E-78CDEC4E903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30573468"/>
            <a:ext cx="7614089" cy="2116922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7560470-BC81-1B40-877D-5F6702550F86}"/>
              </a:ext>
            </a:extLst>
          </p:cNvPr>
          <p:cNvCxnSpPr/>
          <p:nvPr/>
        </p:nvCxnSpPr>
        <p:spPr>
          <a:xfrm>
            <a:off x="8833291" y="30487029"/>
            <a:ext cx="0" cy="208199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13487400" y="2743200"/>
            <a:ext cx="30403800" cy="27432000"/>
          </a:xfrm>
          <a:prstGeom prst="rect">
            <a:avLst/>
          </a:prstGeom>
          <a:solidFill>
            <a:srgbClr val="2B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71600" y="3200400"/>
            <a:ext cx="1097280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400" b="1">
                <a:solidFill>
                  <a:srgbClr val="FFC000"/>
                </a:solidFill>
                <a:latin typeface="Arial"/>
              </a:rPr>
              <a:t>Architecture, WebAssembly, and Test Infrastructure for a .NET Financial Visualization Platform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71600" y="54864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737360" y="5468112"/>
            <a:ext cx="10607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The Problem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54480" y="626364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400">
                <a:solidFill>
                  <a:srgbClr val="FFFFFF"/>
                </a:solidFill>
                <a:latin typeface="Arial"/>
              </a:rPr>
              <a:t>• Existing GEX tools: fragmented JS scripts, no tests, no CI</a:t>
            </a:r>
          </a:p>
          <a:p>
            <a:pPr>
              <a:spcAft>
                <a:spcPts val="600"/>
              </a:spcAft>
            </a:pPr>
            <a:r>
              <a:rPr sz="3400">
                <a:solidFill>
                  <a:srgbClr val="FFFFFF"/>
                </a:solidFill>
                <a:latin typeface="Arial"/>
              </a:rPr>
              <a:t>• Options visualization needs real-time + historical views</a:t>
            </a:r>
          </a:p>
          <a:p>
            <a:pPr>
              <a:spcAft>
                <a:spcPts val="600"/>
              </a:spcAft>
            </a:pPr>
            <a:r>
              <a:rPr sz="3400">
                <a:solidFill>
                  <a:srgbClr val="FFFFFF"/>
                </a:solidFill>
                <a:latin typeface="Arial"/>
              </a:rPr>
              <a:t>• Research workflows disconnected from analysis tooling</a:t>
            </a:r>
          </a:p>
          <a:p>
            <a:pPr>
              <a:spcAft>
                <a:spcPts val="600"/>
              </a:spcAft>
            </a:pPr>
            <a:r>
              <a:rPr sz="3400">
                <a:solidFill>
                  <a:srgbClr val="FFFFFF"/>
                </a:solidFill>
                <a:latin typeface="Arial"/>
              </a:rPr>
              <a:t>• No cross-platform solution (browser-based needed)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371600" y="918972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737360" y="9171432"/>
            <a:ext cx="10607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System Architecture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371600" y="9966960"/>
            <a:ext cx="10972800" cy="54864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371600" y="12298680"/>
            <a:ext cx="109728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ARCHITECTURE DIAGRAM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71600" y="128930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3-tier: UI → Core → API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371600" y="1572768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737360" y="15709392"/>
            <a:ext cx="106070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Technology Stack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54480" y="16504920"/>
            <a:ext cx="1060704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Arial"/>
              </a:rPr>
              <a:t>• .NET 10 / Blazor WebAssembly (runs in browser via WASM)</a:t>
            </a:r>
          </a:p>
          <a:p>
            <a:pPr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Arial"/>
              </a:rPr>
              <a:t>• C# throughout — replaced JS/Python prototype entirely</a:t>
            </a:r>
          </a:p>
          <a:p>
            <a:pPr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Arial"/>
              </a:rPr>
              <a:t>• ApexCharts for interactive financial visualizations</a:t>
            </a:r>
          </a:p>
          <a:p>
            <a:pPr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Arial"/>
              </a:rPr>
              <a:t>• SQLite caching layer for market data persistence</a:t>
            </a:r>
          </a:p>
          <a:p>
            <a:pPr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Arial"/>
              </a:rPr>
              <a:t>• ASP.NET Core API with options chain services</a:t>
            </a:r>
          </a:p>
          <a:p>
            <a:pPr>
              <a:spcAft>
                <a:spcPts val="600"/>
              </a:spcAft>
            </a:pPr>
            <a:r>
              <a:rPr sz="3200">
                <a:solidFill>
                  <a:srgbClr val="FFFFFF"/>
                </a:solidFill>
                <a:latin typeface="Arial"/>
              </a:rPr>
              <a:t>• GitHub Actions CI/CD + Husky.Net pre-commit hooks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173200" y="32004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4538960" y="3182112"/>
            <a:ext cx="1353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GEX Visualizer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4173200" y="3977640"/>
            <a:ext cx="13898880" cy="59436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4173200" y="6537960"/>
            <a:ext cx="1389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GEX VISUALIZER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4173200" y="7132320"/>
            <a:ext cx="1389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Interactive chart + regime timeline + annotations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4173200" y="102870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538960" y="10268712"/>
            <a:ext cx="1353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Research Notebook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4173200" y="11064240"/>
            <a:ext cx="13898880" cy="54864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173200" y="13395960"/>
            <a:ext cx="1389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RESEARCH NOTEBOOK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173200" y="13990320"/>
            <a:ext cx="1389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KDD process tracking + complexity radar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4173200" y="169164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4538960" y="16898112"/>
            <a:ext cx="1353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Paper Trading Journal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4173200" y="17693640"/>
            <a:ext cx="13898880" cy="54864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4173200" y="20025360"/>
            <a:ext cx="1389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PAPER TRADING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4173200" y="20619720"/>
            <a:ext cx="1389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Trade grid + decision timeline + regime context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173200" y="23545800"/>
            <a:ext cx="1389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0">
                <a:solidFill>
                  <a:srgbClr val="FFC000"/>
                </a:solidFill>
                <a:latin typeface="Arial"/>
              </a:rPr>
              <a:t>15 pages  •  35+ Blazor components  •  Full keyboard navigation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8620720" y="32004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8986480" y="3182112"/>
            <a:ext cx="1353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Research Arcade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28620720" y="3977640"/>
            <a:ext cx="13898880" cy="50292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620720" y="6080760"/>
            <a:ext cx="1389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RESEARCH ARCADE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8620720" y="6675120"/>
            <a:ext cx="1389888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Pattern discovery + data pipeline state</a:t>
            </a:r>
          </a:p>
        </p:txBody>
      </p:sp>
      <p:sp>
        <p:nvSpPr>
          <p:cNvPr id="83" name="Rectangle 82"/>
          <p:cNvSpPr/>
          <p:nvPr/>
        </p:nvSpPr>
        <p:spPr>
          <a:xfrm>
            <a:off x="28620720" y="93726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28986480" y="9354312"/>
            <a:ext cx="1353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Task Board &amp; CI/CD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28620720" y="10149840"/>
            <a:ext cx="6766560" cy="50292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28620720" y="12252960"/>
            <a:ext cx="6766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TASK BOARD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8620720" y="1284732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GitHub Kanban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35753040" y="10149840"/>
            <a:ext cx="6766560" cy="50292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5753040" y="12252960"/>
            <a:ext cx="6766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CI/CD PIPELINE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5753040" y="1284732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GitHub Actions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8620720" y="155448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28986480" y="15526512"/>
            <a:ext cx="1353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Test Infrastructure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8620720" y="16322040"/>
            <a:ext cx="6766560" cy="45720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8620720" y="18196560"/>
            <a:ext cx="6766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TEST RESULTS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8620720" y="1879092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xUnit + Moq + Coverlet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35753040" y="16322040"/>
            <a:ext cx="6766560" cy="45720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35753040" y="18196560"/>
            <a:ext cx="67665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BACKTEST TRACKER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5753040" y="18790920"/>
            <a:ext cx="676656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Strategy validation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620720" y="21259800"/>
            <a:ext cx="182880" cy="64008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28986480" y="21241512"/>
            <a:ext cx="13533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>
                <a:solidFill>
                  <a:srgbClr val="FFFFFF"/>
                </a:solidFill>
                <a:latin typeface="Arial"/>
              </a:rPr>
              <a:t>Key Engineering Decisions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8803600" y="22037040"/>
            <a:ext cx="13533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3000">
                <a:solidFill>
                  <a:srgbClr val="FFFFFF"/>
                </a:solidFill>
                <a:latin typeface="Arial"/>
              </a:rPr>
              <a:t>• JS/Python → .NET: type safety, single-language stack</a:t>
            </a:r>
          </a:p>
          <a:p>
            <a:pPr>
              <a:spcAft>
                <a:spcPts val="600"/>
              </a:spcAft>
            </a:pPr>
            <a:r>
              <a:rPr sz="3000">
                <a:solidFill>
                  <a:srgbClr val="FFFFFF"/>
                </a:solidFill>
                <a:latin typeface="Arial"/>
              </a:rPr>
              <a:t>• WebAssembly: full app runs client-side in browser</a:t>
            </a:r>
          </a:p>
          <a:p>
            <a:pPr>
              <a:spcAft>
                <a:spcPts val="600"/>
              </a:spcAft>
            </a:pPr>
            <a:r>
              <a:rPr sz="3000">
                <a:solidFill>
                  <a:srgbClr val="FFFFFF"/>
                </a:solidFill>
                <a:latin typeface="Arial"/>
              </a:rPr>
              <a:t>• 3-tier separation: UI / Core / API testable independently</a:t>
            </a:r>
          </a:p>
          <a:p>
            <a:pPr>
              <a:spcAft>
                <a:spcPts val="600"/>
              </a:spcAft>
            </a:pPr>
            <a:r>
              <a:rPr sz="3000">
                <a:solidFill>
                  <a:srgbClr val="FFFFFF"/>
                </a:solidFill>
                <a:latin typeface="Arial"/>
              </a:rPr>
              <a:t>• Load testing suite for API performance validation</a:t>
            </a:r>
          </a:p>
          <a:p>
            <a:pPr>
              <a:spcAft>
                <a:spcPts val="600"/>
              </a:spcAft>
            </a:pPr>
            <a:r>
              <a:rPr sz="3000">
                <a:solidFill>
                  <a:srgbClr val="FFFFFF"/>
                </a:solidFill>
                <a:latin typeface="Arial"/>
              </a:rPr>
              <a:t>• StyleCop + EditorConfig for consistent code quality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39319200" y="25146000"/>
            <a:ext cx="3200400" cy="3200400"/>
          </a:xfrm>
          <a:prstGeom prst="roundRect">
            <a:avLst/>
          </a:prstGeom>
          <a:solidFill>
            <a:srgbClr val="E8E8E8"/>
          </a:solidFill>
          <a:ln w="25400">
            <a:solidFill>
              <a:srgbClr val="66666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39319200" y="26334720"/>
            <a:ext cx="32004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1">
                <a:solidFill>
                  <a:srgbClr val="666666"/>
                </a:solidFill>
                <a:latin typeface="Arial"/>
              </a:rPr>
              <a:t>QR CODE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9319200" y="26929080"/>
            <a:ext cx="3200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>
                <a:solidFill>
                  <a:srgbClr val="666666"/>
                </a:solidFill>
                <a:latin typeface="Arial"/>
              </a:rPr>
              <a:t>Link to repo/demo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4656</TotalTime>
  <Words>281</Words>
  <Application>Microsoft Office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TITLE TITLE TITLE 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Kristin Jones</dc:creator>
  <cp:lastModifiedBy>Allison Boyle</cp:lastModifiedBy>
  <cp:revision>22</cp:revision>
  <dcterms:created xsi:type="dcterms:W3CDTF">2016-11-09T12:29:45Z</dcterms:created>
  <dcterms:modified xsi:type="dcterms:W3CDTF">2022-04-29T13:18:48Z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2016-04-29T00:00:00Z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2016-11-09T00:00:00Z</vt:filetime>
  </property>
</Properties>
</file>